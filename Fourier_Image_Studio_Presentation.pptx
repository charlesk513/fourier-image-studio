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82880"/>
            <a:ext cx="1645920" cy="1645920"/>
          </a:xfrm>
          <a:prstGeom prst="ellipse">
            <a:avLst/>
          </a:prstGeom>
          <a:solidFill>
            <a:srgbClr val="7C6EFF">
              <a:alpha val="60000"/>
            </a:srgbClr>
          </a:solidFill>
          <a:ln w="12700">
            <a:solidFill>
              <a:srgbClr val="7C6E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731520"/>
            <a:ext cx="2194560" cy="2194560"/>
          </a:xfrm>
          <a:prstGeom prst="ellipse">
            <a:avLst/>
          </a:prstGeom>
          <a:solidFill>
            <a:srgbClr val="7C6EFF">
              <a:alpha val="45000"/>
            </a:srgbClr>
          </a:solidFill>
          <a:ln w="12700">
            <a:solidFill>
              <a:srgbClr val="7C6E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822960"/>
            <a:ext cx="1097280" cy="1097280"/>
          </a:xfrm>
          <a:prstGeom prst="ellipse">
            <a:avLst/>
          </a:prstGeom>
          <a:solidFill>
            <a:srgbClr val="7C6EFF">
              <a:alpha val="40000"/>
            </a:srgbClr>
          </a:solidFill>
          <a:ln w="12700">
            <a:solidFill>
              <a:srgbClr val="7C6E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1828800"/>
            <a:ext cx="914400" cy="914400"/>
          </a:xfrm>
          <a:prstGeom prst="ellipse">
            <a:avLst/>
          </a:prstGeom>
          <a:solidFill>
            <a:srgbClr val="7C6EFF">
              <a:alpha val="35000"/>
            </a:srgbClr>
          </a:solidFill>
          <a:ln w="12700">
            <a:solidFill>
              <a:srgbClr val="7C6E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717550" y="3611880"/>
            <a:ext cx="2011680" cy="2011680"/>
          </a:xfrm>
          <a:prstGeom prst="ellipse">
            <a:avLst/>
          </a:prstGeom>
          <a:solidFill>
            <a:srgbClr val="00E5B0">
              <a:alpha val="32000"/>
            </a:srgbClr>
          </a:solidFill>
          <a:ln w="12700">
            <a:solidFill>
              <a:srgbClr val="00E5B0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3860" y="436245"/>
            <a:ext cx="2011680" cy="292608"/>
          </a:xfrm>
          <a:prstGeom prst="rect">
            <a:avLst/>
          </a:prstGeom>
          <a:solidFill>
            <a:srgbClr val="7C6EFF">
              <a:alpha val="25000"/>
            </a:srgbClr>
          </a:solidFill>
          <a:ln w="12700">
            <a:solidFill>
              <a:srgbClr val="7C6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3860" y="438785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5B0"/>
                </a:solidFill>
              </a:rPr>
              <a:t>GROUP 2  ·  </a:t>
            </a:r>
            <a:r>
              <a:rPr lang="de-DE" altLang="en-US" sz="700" b="1" dirty="0">
                <a:solidFill>
                  <a:srgbClr val="00E5B0"/>
                </a:solidFill>
                <a:latin typeface="Calibri" pitchFamily="34" charset="0"/>
              </a:rPr>
              <a:t>SEMESTER</a:t>
            </a:r>
            <a:r>
              <a:rPr lang="en-US" sz="700" b="1" dirty="0">
                <a:solidFill>
                  <a:srgbClr val="00E5B0"/>
                </a:solidFill>
              </a:rPr>
              <a:t> PROJECT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67995" y="1005840"/>
            <a:ext cx="73152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Fourier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7315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7C6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Studio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7680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Enhancement  ·  Frequency Filtering  ·  10 Live Colour Filters</a:t>
            </a:r>
            <a:r>
              <a:rPr lang="de-DE" altLang="en-US" sz="12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it</a:t>
            </a:r>
            <a:endParaRPr lang="de-DE" altLang="en-US" sz="1200" dirty="0">
              <a:solidFill>
                <a:srgbClr val="7A7A9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2743200" cy="27432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2310" y="85090"/>
            <a:ext cx="8046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de-DE" alt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Course: </a:t>
            </a:r>
            <a:r>
              <a:rPr lang="de-DE" alt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 Calculus; </a:t>
            </a: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Signal Processing  |  2026</a:t>
            </a:r>
            <a:r>
              <a:rPr lang="de-DE" alt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Lecturer: Mr.Buri Gershom</a:t>
            </a:r>
            <a:endParaRPr lang="de-DE" altLang="en-US" sz="900" dirty="0">
              <a:solidFill>
                <a:srgbClr val="7A7A9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3474085" y="3390265"/>
            <a:ext cx="566991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de-DE" altLang="en-US">
                <a:solidFill>
                  <a:schemeClr val="bg1"/>
                </a:solidFill>
                <a:latin typeface="Calibri" pitchFamily="34" charset="0"/>
              </a:rPr>
              <a:t>Kabunga Charles 2025BCS/084/PS</a:t>
            </a:r>
            <a:endParaRPr lang="de-DE" altLang="en-US">
              <a:solidFill>
                <a:schemeClr val="bg1"/>
              </a:solidFill>
              <a:latin typeface="Calibri" pitchFamily="34" charset="0"/>
            </a:endParaRPr>
          </a:p>
          <a:p>
            <a:r>
              <a:rPr lang="de-DE" altLang="en-US">
                <a:solidFill>
                  <a:schemeClr val="bg1"/>
                </a:solidFill>
                <a:latin typeface="Calibri" pitchFamily="34" charset="0"/>
              </a:rPr>
              <a:t>Ainomugisha Ronald 2025/BCS/021/PS</a:t>
            </a:r>
            <a:endParaRPr lang="de-DE" altLang="en-US">
              <a:solidFill>
                <a:schemeClr val="bg1"/>
              </a:solidFill>
              <a:latin typeface="Calibri" pitchFamily="34" charset="0"/>
            </a:endParaRPr>
          </a:p>
          <a:p>
            <a:r>
              <a:rPr lang="de-DE" altLang="en-US">
                <a:solidFill>
                  <a:schemeClr val="bg1"/>
                </a:solidFill>
                <a:latin typeface="Calibri" pitchFamily="34" charset="0"/>
              </a:rPr>
              <a:t>Agengo Anne Casmiro 2025/BCS/009/PS</a:t>
            </a:r>
            <a:endParaRPr lang="de-DE" altLang="en-US">
              <a:solidFill>
                <a:schemeClr val="bg1"/>
              </a:solidFill>
              <a:latin typeface="Calibri" pitchFamily="34" charset="0"/>
            </a:endParaRPr>
          </a:p>
          <a:p>
            <a:r>
              <a:rPr lang="de-DE" altLang="en-US">
                <a:solidFill>
                  <a:schemeClr val="bg1"/>
                </a:solidFill>
                <a:latin typeface="Calibri" pitchFamily="34" charset="0"/>
              </a:rPr>
              <a:t>Biyimbwa Elijah Ssemwogerere 2025/BCS/068/PS</a:t>
            </a:r>
            <a:endParaRPr lang="de-DE" altLang="en-US">
              <a:solidFill>
                <a:schemeClr val="bg1"/>
              </a:solidFill>
              <a:latin typeface="Calibri" pitchFamily="34" charset="0"/>
            </a:endParaRPr>
          </a:p>
          <a:p>
            <a:r>
              <a:rPr lang="de-DE" altLang="en-US">
                <a:solidFill>
                  <a:schemeClr val="bg1"/>
                </a:solidFill>
                <a:latin typeface="Calibri" pitchFamily="34" charset="0"/>
              </a:rPr>
              <a:t>Musasizi Noreen </a:t>
            </a:r>
            <a:r>
              <a:rPr lang="de-DE" altLang="en-US">
                <a:solidFill>
                  <a:schemeClr val="bg1"/>
                </a:solidFill>
                <a:latin typeface="Calibri" pitchFamily="34" charset="0"/>
                <a:sym typeface="+mn-ea"/>
              </a:rPr>
              <a:t>2025/BCS/201/PS</a:t>
            </a:r>
            <a:endParaRPr lang="de-DE" altLang="en-US">
              <a:solidFill>
                <a:schemeClr val="bg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430"/>
            <a:ext cx="4114800" cy="514350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5930" y="-11430"/>
            <a:ext cx="33832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FOURIER TRANSFORM?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2900" y="1089025"/>
            <a:ext cx="76200" cy="3680460"/>
          </a:xfrm>
          <a:prstGeom prst="rect">
            <a:avLst/>
          </a:prstGeom>
          <a:solidFill>
            <a:srgbClr val="7C6EFF"/>
          </a:solidFill>
          <a:ln w="12700">
            <a:solidFill>
              <a:srgbClr val="7C6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2370"/>
            <a:ext cx="3291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Decomposition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59662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any signal into a sum of sine &amp; cosine waves at different frequencies.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699260"/>
            <a:ext cx="3291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→ Frequency Domain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01952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2D image array into its frequency-domain representation.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268220"/>
            <a:ext cx="3291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Images?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1980" y="2427097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contain low frequencies (smooth regions) and high frequencies (edges, details).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0" y="594360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6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DFT Formula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64660" y="216535"/>
            <a:ext cx="4467860" cy="4809490"/>
          </a:xfrm>
          <a:prstGeom prst="rect">
            <a:avLst/>
          </a:prstGeom>
          <a:solidFill>
            <a:srgbClr val="17171F"/>
          </a:solidFill>
          <a:ln w="12700">
            <a:solidFill>
              <a:srgbClr val="2727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" y="2975610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6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Complexity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5930" y="3211830"/>
            <a:ext cx="3695065" cy="475615"/>
          </a:xfrm>
          <a:prstGeom prst="rect">
            <a:avLst/>
          </a:prstGeom>
          <a:solidFill>
            <a:srgbClr val="111118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930" y="3264408"/>
            <a:ext cx="1371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DFT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07820" y="3211068"/>
            <a:ext cx="10972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E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O(N²M²)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05100" y="3203448"/>
            <a:ext cx="11887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Impractical for large images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5930" y="3643630"/>
            <a:ext cx="3695065" cy="475615"/>
          </a:xfrm>
          <a:prstGeom prst="rect">
            <a:avLst/>
          </a:prstGeom>
          <a:solidFill>
            <a:srgbClr val="09090F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1795" y="3657473"/>
            <a:ext cx="1371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Cooley-Tukey FFT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508760" y="3706368"/>
            <a:ext cx="10972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E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O(NM log NM)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87015" y="3683508"/>
            <a:ext cx="11887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our app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64820" y="4201795"/>
            <a:ext cx="3676015" cy="475615"/>
          </a:xfrm>
          <a:prstGeom prst="rect">
            <a:avLst/>
          </a:prstGeom>
          <a:solidFill>
            <a:srgbClr val="111118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" y="4083558"/>
            <a:ext cx="1371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1024×1024 image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508760" y="4103878"/>
            <a:ext cx="10972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E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~200M ops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05100" y="4145788"/>
            <a:ext cx="11887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10¹² for direct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4846320"/>
            <a:ext cx="4114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C6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TRANSFORM</a:t>
            </a:r>
            <a:endParaRPr lang="en-US" sz="700" dirty="0"/>
          </a:p>
        </p:txBody>
      </p:sp>
      <p:pic>
        <p:nvPicPr>
          <p:cNvPr id="11" name="Picture 10" descr="MRI 1-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4660" y="2106930"/>
            <a:ext cx="4531360" cy="2985135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4449445" y="271780"/>
            <a:ext cx="4283075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b="1">
                <a:solidFill>
                  <a:schemeClr val="bg1"/>
                </a:solidFill>
                <a:latin typeface="Bitstream Charter" charset="0"/>
                <a:cs typeface="Bitstream Charter" charset="0"/>
              </a:rPr>
              <a:t>The Problem</a:t>
            </a:r>
            <a:endParaRPr lang="en-US" sz="140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r>
              <a:rPr lang="en-US" sz="1000">
                <a:solidFill>
                  <a:schemeClr val="bg1"/>
                </a:solidFill>
              </a:rPr>
              <a:t>In digital photography, medical imaging, and document scanning, images frequently suffer from blurriness, noise, and poor colour quality — making details hard to see and information difficult to extract. Fourier Image Studio solves this by applying Fast Fourier Transform-based frequency filtering and enhancement tools that sharpen edges, remove noise, and correct colour — all through an interactive interface that makes advanced signal processing accessible without writing a single line of code.</a:t>
            </a:r>
            <a:endParaRPr lang="en-US" sz="1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three engines work together inside Fourier Image Studio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508760" cy="1371600"/>
          </a:xfrm>
          <a:prstGeom prst="rect">
            <a:avLst/>
          </a:prstGeom>
          <a:solidFill>
            <a:srgbClr val="17171F"/>
          </a:solidFill>
          <a:ln w="25400">
            <a:solidFill>
              <a:srgbClr val="7A7A9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98448"/>
            <a:ext cx="1417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901952"/>
            <a:ext cx="1417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 load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array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783080" y="1874520"/>
            <a:ext cx="502920" cy="54864"/>
          </a:xfrm>
          <a:prstGeom prst="rect">
            <a:avLst/>
          </a:prstGeom>
          <a:solidFill>
            <a:srgbClr val="27273A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234440"/>
            <a:ext cx="1508760" cy="1371600"/>
          </a:xfrm>
          <a:prstGeom prst="rect">
            <a:avLst/>
          </a:prstGeom>
          <a:solidFill>
            <a:srgbClr val="17171F"/>
          </a:solidFill>
          <a:ln w="25400">
            <a:solidFill>
              <a:srgbClr val="7C6E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57400" y="1298448"/>
            <a:ext cx="1417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6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6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57400" y="1901952"/>
            <a:ext cx="1417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np.fft.fft2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fftshift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520440" y="1874520"/>
            <a:ext cx="502920" cy="54864"/>
          </a:xfrm>
          <a:prstGeom prst="rect">
            <a:avLst/>
          </a:prstGeom>
          <a:solidFill>
            <a:srgbClr val="27273A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1234440"/>
            <a:ext cx="1508760" cy="1371600"/>
          </a:xfrm>
          <a:prstGeom prst="rect">
            <a:avLst/>
          </a:prstGeom>
          <a:solidFill>
            <a:srgbClr val="17171F"/>
          </a:solidFill>
          <a:ln w="25400">
            <a:solidFill>
              <a:srgbClr val="00E5B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94760" y="1298448"/>
            <a:ext cx="1417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94760" y="1901952"/>
            <a:ext cx="1417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Low-pass / HP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Unsharp / Wiener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257800" y="1874520"/>
            <a:ext cx="502920" cy="54864"/>
          </a:xfrm>
          <a:prstGeom prst="rect">
            <a:avLst/>
          </a:prstGeom>
          <a:solidFill>
            <a:srgbClr val="27273A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1234440"/>
            <a:ext cx="1508760" cy="1371600"/>
          </a:xfrm>
          <a:prstGeom prst="rect">
            <a:avLst/>
          </a:prstGeom>
          <a:solidFill>
            <a:srgbClr val="17171F"/>
          </a:solidFill>
          <a:ln w="25400">
            <a:solidFill>
              <a:srgbClr val="7C6E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32120" y="1298448"/>
            <a:ext cx="1417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6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IFFT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6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32120" y="1901952"/>
            <a:ext cx="1417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ifftshift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ifft2 → clip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995160" y="1874520"/>
            <a:ext cx="502920" cy="54864"/>
          </a:xfrm>
          <a:prstGeom prst="rect">
            <a:avLst/>
          </a:prstGeom>
          <a:solidFill>
            <a:srgbClr val="27273A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0" y="1234440"/>
            <a:ext cx="1508760" cy="1371600"/>
          </a:xfrm>
          <a:prstGeom prst="rect">
            <a:avLst/>
          </a:prstGeom>
          <a:solidFill>
            <a:srgbClr val="17171F"/>
          </a:solidFill>
          <a:ln w="25400">
            <a:solidFill>
              <a:srgbClr val="7A7A9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69480" y="1298448"/>
            <a:ext cx="1417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69480" y="1901952"/>
            <a:ext cx="1417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np.uint8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 display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" y="2880360"/>
            <a:ext cx="2788920" cy="1920240"/>
          </a:xfrm>
          <a:prstGeom prst="rect">
            <a:avLst/>
          </a:prstGeom>
          <a:solidFill>
            <a:srgbClr val="111118"/>
          </a:solidFill>
          <a:ln w="19050">
            <a:solidFill>
              <a:srgbClr val="7C6E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880360"/>
            <a:ext cx="2788920" cy="320040"/>
          </a:xfrm>
          <a:prstGeom prst="rect">
            <a:avLst/>
          </a:prstGeom>
          <a:solidFill>
            <a:srgbClr val="7C6EFF">
              <a:alpha val="80000"/>
            </a:srgbClr>
          </a:solidFill>
          <a:ln w="12700">
            <a:solidFill>
              <a:srgbClr val="7C6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88036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FourierEngine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3246120"/>
            <a:ext cx="2606040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process(img, mode, strength)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_gauss_lp() — low-pass mask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_gauss_hp() — high-pass mask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_unsharp() — unsharp mask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_wiener() — Wiener deconvolution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_apply_filter() — FFT per channel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0" y="2880360"/>
            <a:ext cx="2788920" cy="1920240"/>
          </a:xfrm>
          <a:prstGeom prst="rect">
            <a:avLst/>
          </a:prstGeom>
          <a:solidFill>
            <a:srgbClr val="111118"/>
          </a:solidFill>
          <a:ln w="19050">
            <a:solidFill>
              <a:srgbClr val="00E5B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2880360"/>
            <a:ext cx="2788920" cy="320040"/>
          </a:xfrm>
          <a:prstGeom prst="rect">
            <a:avLst/>
          </a:prstGeom>
          <a:solidFill>
            <a:srgbClr val="00E5B0">
              <a:alpha val="80000"/>
            </a:srgbClr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3552" y="288036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FilterEngine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91840" y="3246120"/>
            <a:ext cx="2606040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apply(img, index) — dispatcher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colour presets (index 0–10)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Sepia, Vivid, Noir, Cinematic…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 arithmetic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Enhance wrappers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thumbnail generation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26480" y="2880360"/>
            <a:ext cx="2788920" cy="1920240"/>
          </a:xfrm>
          <a:prstGeom prst="rect">
            <a:avLst/>
          </a:prstGeom>
          <a:solidFill>
            <a:srgbClr val="111118"/>
          </a:solidFill>
          <a:ln w="19050">
            <a:solidFill>
              <a:srgbClr val="FF6B6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880360"/>
            <a:ext cx="2788920" cy="320040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288036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FourierImageStudio (UI)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17920" y="3246120"/>
            <a:ext cx="2606040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+ ttk dark theme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processing (no freeze)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+ pan scrollable canvas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spectrum visualiser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expansion diagram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→ original folder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Sharpening &amp; Smoothing via FFT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fundamental frequency-domain operations — controlled by a single strength slider (5%–100%)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60520" cy="3566160"/>
          </a:xfrm>
          <a:prstGeom prst="rect">
            <a:avLst/>
          </a:prstGeom>
          <a:solidFill>
            <a:srgbClr val="17171F"/>
          </a:solidFill>
          <a:ln w="19050">
            <a:solidFill>
              <a:srgbClr val="7C6E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4160520" cy="384048"/>
          </a:xfrm>
          <a:prstGeom prst="rect">
            <a:avLst/>
          </a:prstGeom>
          <a:solidFill>
            <a:srgbClr val="7C6EFF">
              <a:alpha val="90000"/>
            </a:srgbClr>
          </a:solidFill>
          <a:ln w="12700">
            <a:solidFill>
              <a:srgbClr val="7C6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886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SHARPEN MODE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4864" cy="685800"/>
          </a:xfrm>
          <a:prstGeom prst="rect">
            <a:avLst/>
          </a:prstGeom>
          <a:solidFill>
            <a:srgbClr val="7C6EFF"/>
          </a:solidFill>
          <a:ln w="12700">
            <a:solidFill>
              <a:srgbClr val="7C6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00200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Unsharp Mask (FFT)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1847088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 = 1 + strength × H_hp(σ)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C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Highlights edges by boosting high frequencies.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54864" cy="685800"/>
          </a:xfrm>
          <a:prstGeom prst="rect">
            <a:avLst/>
          </a:prstGeom>
          <a:solidFill>
            <a:srgbClr val="7C6EFF"/>
          </a:solidFill>
          <a:ln w="12700">
            <a:solidFill>
              <a:srgbClr val="7C6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60320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Wiener Deconvolution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807208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H / (H² + K)  where K = 0.02/strength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C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Reduces ringing artefacts while restoring detail.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54864" cy="685800"/>
          </a:xfrm>
          <a:prstGeom prst="rect">
            <a:avLst/>
          </a:prstGeom>
          <a:solidFill>
            <a:srgbClr val="7C6EFF"/>
          </a:solidFill>
          <a:ln w="12700">
            <a:solidFill>
              <a:srgbClr val="7C6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20440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Mask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3767328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 × unsharp + 0.4 × wiener × (1 + strength×2)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C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Blends both for artefact-free edge clarity.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4160520" cy="3566160"/>
          </a:xfrm>
          <a:prstGeom prst="rect">
            <a:avLst/>
          </a:prstGeom>
          <a:solidFill>
            <a:srgbClr val="17171F"/>
          </a:solidFill>
          <a:ln w="19050">
            <a:solidFill>
              <a:srgbClr val="00E5B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97280"/>
            <a:ext cx="4160520" cy="384048"/>
          </a:xfrm>
          <a:prstGeom prst="rect">
            <a:avLst/>
          </a:prstGeom>
          <a:solidFill>
            <a:srgbClr val="00E5B0">
              <a:alpha val="90000"/>
            </a:srgbClr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097280"/>
            <a:ext cx="3886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 SMOOTH MODE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1600200"/>
            <a:ext cx="54864" cy="68580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600200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6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Low-Pass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83480" y="1847088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cutoff = 0.5 − strength × 0.38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C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= cutoff × min(rows,cols) / 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00600" y="2560320"/>
            <a:ext cx="54864" cy="68580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560320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6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Mask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83480" y="2807208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G(u,v) = exp(−(u²+v²) / 2σ²)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C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Attentuates high-frequency components.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00600" y="3520440"/>
            <a:ext cx="54864" cy="68580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520440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6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83480" y="3767328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 strength → smaller cutoff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C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more frequencies removed → heavier blur.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PRESETS:   Subtle 25%  ·  Medium 55%  ·  Strong 80%  ·  Max 100%  — each updates the % display in real time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 Domain Filter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〜 Freq tab — visualise and interactively apply low-pass or high-pass filters in the frequency domain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60520" cy="3749040"/>
          </a:xfrm>
          <a:prstGeom prst="rect">
            <a:avLst/>
          </a:prstGeom>
          <a:solidFill>
            <a:srgbClr val="17171F"/>
          </a:solidFill>
          <a:ln w="19050">
            <a:solidFill>
              <a:srgbClr val="00E5B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4160520" cy="384048"/>
          </a:xfrm>
          <a:prstGeom prst="rect">
            <a:avLst/>
          </a:prstGeom>
          <a:solidFill>
            <a:srgbClr val="00E5B0">
              <a:alpha val="85000"/>
            </a:srgbClr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886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LOW-PASS FILTER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88620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frequencies BELOW the cutoff.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Smooths and blurs the image.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fine grain, noise, and sharp edges.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Mask: G(u,v) = exp(−D²/2σ²)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 = distance from DC centre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 15% → heavy blur (portrait softening)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 40% → gentle denoise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 70% → subtle smoothing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160520" cy="3749040"/>
          </a:xfrm>
          <a:prstGeom prst="rect">
            <a:avLst/>
          </a:prstGeom>
          <a:solidFill>
            <a:srgbClr val="17171F"/>
          </a:solidFill>
          <a:ln w="19050">
            <a:solidFill>
              <a:srgbClr val="FF6B6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4160520" cy="384048"/>
          </a:xfrm>
          <a:prstGeom prst="rect">
            <a:avLst/>
          </a:prstGeom>
          <a:solidFill>
            <a:srgbClr val="FF6B6B">
              <a:alpha val="8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97280"/>
            <a:ext cx="3886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HIGH-PASS FILTER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600200"/>
            <a:ext cx="388620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frequencies ABOVE the cutoff.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Enhances edges and fine detail.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low-frequency (flat colour) information.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Mask: HP(u,v) = 1 − G(u,v)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of the Gaussian LP mask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 20% → dramatic edge-only output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 50% → moderate sharpening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 80% → very fine texture only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solidFill>
            <a:srgbClr val="111118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78231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app: the FFT Spectrum Canvas shows bar heights (magnitude) across frequencies. The vertical cutoff line moves with the slider, and bars change colour — green = passed, gray = blocked.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Live Colour Filters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preview with thumbnail carousel — one click applies the filter to the full image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554480" cy="1600200"/>
          </a:xfrm>
          <a:prstGeom prst="rect">
            <a:avLst/>
          </a:prstGeom>
          <a:solidFill>
            <a:srgbClr val="17171F"/>
          </a:solidFill>
          <a:ln w="19050">
            <a:solidFill>
              <a:srgbClr val="F96167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216152"/>
            <a:ext cx="457200" cy="457200"/>
          </a:xfrm>
          <a:prstGeom prst="ellipse">
            <a:avLst/>
          </a:prstGeom>
          <a:solidFill>
            <a:srgbClr val="F96167">
              <a:alpha val="7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161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09928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1463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color saturation ×1.8, contrast ×1.3, sharpness ×1.5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039112" y="1143000"/>
            <a:ext cx="1554480" cy="1600200"/>
          </a:xfrm>
          <a:prstGeom prst="rect">
            <a:avLst/>
          </a:prstGeom>
          <a:solidFill>
            <a:srgbClr val="17171F"/>
          </a:solidFill>
          <a:ln w="19050">
            <a:solidFill>
              <a:srgbClr val="C887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87752" y="1216152"/>
            <a:ext cx="457200" cy="457200"/>
          </a:xfrm>
          <a:prstGeom prst="ellipse">
            <a:avLst/>
          </a:prstGeom>
          <a:solidFill>
            <a:srgbClr val="C8873A">
              <a:alpha val="70000"/>
            </a:srgbClr>
          </a:solidFill>
          <a:ln w="12700">
            <a:solidFill>
              <a:srgbClr val="C887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12161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84832" y="1709928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Sepia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84832" y="1993392"/>
            <a:ext cx="1463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multiply: warm brown tones (R×0.393 + G×0.769 + B×0.189)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758184" y="1143000"/>
            <a:ext cx="1554480" cy="1600200"/>
          </a:xfrm>
          <a:prstGeom prst="rect">
            <a:avLst/>
          </a:prstGeom>
          <a:solidFill>
            <a:srgbClr val="17171F"/>
          </a:solidFill>
          <a:ln w="19050">
            <a:solidFill>
              <a:srgbClr val="5B9BD5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06824" y="1216152"/>
            <a:ext cx="457200" cy="457200"/>
          </a:xfrm>
          <a:prstGeom prst="ellipse">
            <a:avLst/>
          </a:prstGeom>
          <a:solidFill>
            <a:srgbClr val="5B9BD5">
              <a:alpha val="70000"/>
            </a:srgbClr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6824" y="12161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03904" y="1709928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Mist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03904" y="1993392"/>
            <a:ext cx="1463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channel ×0.80, Blue ×1.25 + 15, brightness 0.95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477256" y="1143000"/>
            <a:ext cx="1554480" cy="1600200"/>
          </a:xfrm>
          <a:prstGeom prst="rect">
            <a:avLst/>
          </a:prstGeom>
          <a:solidFill>
            <a:srgbClr val="17171F"/>
          </a:solidFill>
          <a:ln w="19050">
            <a:solidFill>
              <a:srgbClr val="F0A50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1216152"/>
            <a:ext cx="457200" cy="457200"/>
          </a:xfrm>
          <a:prstGeom prst="ellipse">
            <a:avLst/>
          </a:prstGeom>
          <a:solidFill>
            <a:srgbClr val="F0A500">
              <a:alpha val="7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25896" y="12161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22976" y="1709928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22976" y="1993392"/>
            <a:ext cx="1463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×1.20 + 20, Green ×1.05, Blue ×0.70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196328" y="1143000"/>
            <a:ext cx="1554480" cy="1600200"/>
          </a:xfrm>
          <a:prstGeom prst="rect">
            <a:avLst/>
          </a:prstGeom>
          <a:solidFill>
            <a:srgbClr val="17171F"/>
          </a:solidFill>
          <a:ln w="19050">
            <a:solidFill>
              <a:srgbClr val="88888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44968" y="1216152"/>
            <a:ext cx="457200" cy="457200"/>
          </a:xfrm>
          <a:prstGeom prst="ellipse">
            <a:avLst/>
          </a:prstGeom>
          <a:solidFill>
            <a:srgbClr val="888888">
              <a:alpha val="70000"/>
            </a:srgbClr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44968" y="12161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◆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42048" y="1709928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42048" y="1993392"/>
            <a:ext cx="1463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+ contrast ×1.6 converted back to RGB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20040" y="2971800"/>
            <a:ext cx="1554480" cy="1600200"/>
          </a:xfrm>
          <a:prstGeom prst="rect">
            <a:avLst/>
          </a:prstGeom>
          <a:solidFill>
            <a:srgbClr val="17171F"/>
          </a:solidFill>
          <a:ln w="19050">
            <a:solidFill>
              <a:srgbClr val="9A9AB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8680" y="3044952"/>
            <a:ext cx="457200" cy="457200"/>
          </a:xfrm>
          <a:prstGeom prst="ellipse">
            <a:avLst/>
          </a:prstGeom>
          <a:solidFill>
            <a:srgbClr val="9A9ABA">
              <a:alpha val="70000"/>
            </a:srgbClr>
          </a:solidFill>
          <a:ln w="12700">
            <a:solidFill>
              <a:srgbClr val="9A9AB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0449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◎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3538728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3822192"/>
            <a:ext cx="1463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×0.65, saturation ×0.6, level lift +30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039112" y="2971800"/>
            <a:ext cx="1554480" cy="1600200"/>
          </a:xfrm>
          <a:prstGeom prst="rect">
            <a:avLst/>
          </a:prstGeom>
          <a:solidFill>
            <a:srgbClr val="17171F"/>
          </a:solidFill>
          <a:ln w="19050">
            <a:solidFill>
              <a:srgbClr val="1C7293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87752" y="3044952"/>
            <a:ext cx="457200" cy="457200"/>
          </a:xfrm>
          <a:prstGeom prst="ellipse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87752" y="30449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▣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084832" y="3538728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084832" y="3822192"/>
            <a:ext cx="1463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teal shift + highlight orange lift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758184" y="2971800"/>
            <a:ext cx="1554480" cy="1600200"/>
          </a:xfrm>
          <a:prstGeom prst="rect">
            <a:avLst/>
          </a:prstGeom>
          <a:solidFill>
            <a:srgbClr val="17171F"/>
          </a:solidFill>
          <a:ln w="19050">
            <a:solidFill>
              <a:srgbClr val="E040F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306824" y="3044952"/>
            <a:ext cx="457200" cy="457200"/>
          </a:xfrm>
          <a:prstGeom prst="ellipse">
            <a:avLst/>
          </a:prstGeom>
          <a:solidFill>
            <a:srgbClr val="E040FB">
              <a:alpha val="70000"/>
            </a:srgbClr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06824" y="30449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✦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803904" y="3538728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Pop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803904" y="3822192"/>
            <a:ext cx="1463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×2.5 + contrast ×1.4 — vivid candy palette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477256" y="2971800"/>
            <a:ext cx="1554480" cy="1600200"/>
          </a:xfrm>
          <a:prstGeom prst="rect">
            <a:avLst/>
          </a:prstGeom>
          <a:solidFill>
            <a:srgbClr val="17171F"/>
          </a:solidFill>
          <a:ln w="19050">
            <a:solidFill>
              <a:srgbClr val="F48FB1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25896" y="3044952"/>
            <a:ext cx="457200" cy="457200"/>
          </a:xfrm>
          <a:prstGeom prst="ellipse">
            <a:avLst/>
          </a:prstGeom>
          <a:solidFill>
            <a:srgbClr val="F48FB1">
              <a:alpha val="70000"/>
            </a:srgbClr>
          </a:solidFill>
          <a:ln w="12700">
            <a:solidFill>
              <a:srgbClr val="F48FB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25896" y="30449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✿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522976" y="3538728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Bloom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522976" y="3822192"/>
            <a:ext cx="1463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 overlay at 0.5 weight + brightness 1.1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196328" y="2971800"/>
            <a:ext cx="1554480" cy="1600200"/>
          </a:xfrm>
          <a:prstGeom prst="rect">
            <a:avLst/>
          </a:prstGeom>
          <a:solidFill>
            <a:srgbClr val="17171F"/>
          </a:solidFill>
          <a:ln w="19050">
            <a:solidFill>
              <a:srgbClr val="2E7D3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744968" y="3044952"/>
            <a:ext cx="457200" cy="457200"/>
          </a:xfrm>
          <a:prstGeom prst="ellipse">
            <a:avLst/>
          </a:prstGeom>
          <a:solidFill>
            <a:srgbClr val="2E7D32">
              <a:alpha val="7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44968" y="30449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⬡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242048" y="3538728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Forest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242048" y="3822192"/>
            <a:ext cx="1463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×0.78, Green ×1.18 + 5, Blue ×0.85, contrast ×1.2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Fourier Series Expansion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periodic signal = infinite sum of harmonics. The Freq tab visualises this live as you drag the cutoff slider.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8503920" cy="777240"/>
          </a:xfrm>
          <a:prstGeom prst="rect">
            <a:avLst/>
          </a:prstGeom>
          <a:solidFill>
            <a:srgbClr val="111118"/>
          </a:solidFill>
          <a:ln w="12700">
            <a:solidFill>
              <a:srgbClr val="7C6E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E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 wave  =  (4/π) · [ sin(x)/1  +  sin(3x)/3  +  sin(5x)/5  +  sin(7x)/7  + … 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011680"/>
            <a:ext cx="1572768" cy="2651760"/>
          </a:xfrm>
          <a:prstGeom prst="rect">
            <a:avLst/>
          </a:prstGeom>
          <a:solidFill>
            <a:srgbClr val="17171F"/>
          </a:solidFill>
          <a:ln w="19050">
            <a:solidFill>
              <a:srgbClr val="7C6E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7824" y="2103120"/>
            <a:ext cx="457200" cy="457200"/>
          </a:xfrm>
          <a:prstGeom prst="ellipse">
            <a:avLst/>
          </a:prstGeom>
          <a:solidFill>
            <a:srgbClr val="7C6EFF">
              <a:alpha val="75000"/>
            </a:srgbClr>
          </a:solidFill>
          <a:ln w="12700">
            <a:solidFill>
              <a:srgbClr val="7C6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4904" y="263347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6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Harmonic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74904" y="2944368"/>
            <a:ext cx="146304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sin(x)        — fundamental frequency, rough square shape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039112" y="2011680"/>
            <a:ext cx="1572768" cy="2651760"/>
          </a:xfrm>
          <a:prstGeom prst="rect">
            <a:avLst/>
          </a:prstGeom>
          <a:solidFill>
            <a:srgbClr val="17171F"/>
          </a:solidFill>
          <a:ln w="19050">
            <a:solidFill>
              <a:srgbClr val="00E5B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2103120"/>
            <a:ext cx="457200" cy="457200"/>
          </a:xfrm>
          <a:prstGeom prst="ellipse">
            <a:avLst/>
          </a:prstGeom>
          <a:solidFill>
            <a:srgbClr val="00E5B0">
              <a:alpha val="75000"/>
            </a:srgbClr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6896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93976" y="263347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Harmonic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093976" y="2944368"/>
            <a:ext cx="146304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sin(3x)/3     — first correction, flattens the top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758184" y="2011680"/>
            <a:ext cx="1572768" cy="2651760"/>
          </a:xfrm>
          <a:prstGeom prst="rect">
            <a:avLst/>
          </a:prstGeom>
          <a:solidFill>
            <a:srgbClr val="17171F"/>
          </a:solidFill>
          <a:ln w="19050">
            <a:solidFill>
              <a:srgbClr val="FF6B6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15968" y="2103120"/>
            <a:ext cx="457200" cy="457200"/>
          </a:xfrm>
          <a:prstGeom prst="ellipse">
            <a:avLst/>
          </a:prstGeom>
          <a:solidFill>
            <a:srgbClr val="FF6B6B">
              <a:alpha val="7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15968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13048" y="263347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Harmonic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13048" y="2944368"/>
            <a:ext cx="146304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sin(5x)/5     — sharpens corners further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477256" y="2011680"/>
            <a:ext cx="1572768" cy="2651760"/>
          </a:xfrm>
          <a:prstGeom prst="rect">
            <a:avLst/>
          </a:prstGeom>
          <a:solidFill>
            <a:srgbClr val="17171F"/>
          </a:solidFill>
          <a:ln w="19050">
            <a:solidFill>
              <a:srgbClr val="F7C94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2103120"/>
            <a:ext cx="457200" cy="457200"/>
          </a:xfrm>
          <a:prstGeom prst="ellipse">
            <a:avLst/>
          </a:prstGeom>
          <a:solidFill>
            <a:srgbClr val="F7C948">
              <a:alpha val="75000"/>
            </a:srgbClr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263347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7th Harmonic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32120" y="2944368"/>
            <a:ext cx="146304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sin(7x)/7     — reduces Gibbs ripple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96328" y="2011680"/>
            <a:ext cx="1572768" cy="2651760"/>
          </a:xfrm>
          <a:prstGeom prst="rect">
            <a:avLst/>
          </a:prstGeom>
          <a:solidFill>
            <a:srgbClr val="17171F"/>
          </a:solidFill>
          <a:ln w="19050">
            <a:solidFill>
              <a:srgbClr val="FFF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54112" y="2103120"/>
            <a:ext cx="457200" cy="457200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54112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51192" y="263347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Sum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251192" y="2944368"/>
            <a:ext cx="146304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harmonics  — converges to a square wave as N→∞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111118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764024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image processing: Low-pass → few harmonics → smooth. High-pass → many harmonics → sharp edges. The expansion diagram in the app tracks this as you move the slider.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Features &amp; Live Demo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to showcase during your presentation — follow this sequence for maximum impact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2743200" cy="1691640"/>
          </a:xfrm>
          <a:prstGeom prst="rect">
            <a:avLst/>
          </a:prstGeom>
          <a:solidFill>
            <a:srgbClr val="17171F"/>
          </a:solidFill>
          <a:ln w="19050">
            <a:solidFill>
              <a:srgbClr val="7C6E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07008"/>
            <a:ext cx="530352" cy="530352"/>
          </a:xfrm>
          <a:prstGeom prst="ellipse">
            <a:avLst/>
          </a:prstGeom>
          <a:solidFill>
            <a:srgbClr val="7C6EFF">
              <a:alpha val="80000"/>
            </a:srgbClr>
          </a:solidFill>
          <a:ln w="12700">
            <a:solidFill>
              <a:srgbClr val="7C6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0700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33272" y="1225296"/>
            <a:ext cx="1920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6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801368"/>
            <a:ext cx="2523744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Ctrl+O or 📂 Open button.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photo with clear edges (building, face, text).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64408" y="1115568"/>
            <a:ext cx="2743200" cy="1691640"/>
          </a:xfrm>
          <a:prstGeom prst="rect">
            <a:avLst/>
          </a:prstGeom>
          <a:solidFill>
            <a:srgbClr val="17171F"/>
          </a:solidFill>
          <a:ln w="19050">
            <a:solidFill>
              <a:srgbClr val="7C6E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1207008"/>
            <a:ext cx="530352" cy="530352"/>
          </a:xfrm>
          <a:prstGeom prst="ellipse">
            <a:avLst/>
          </a:prstGeom>
          <a:solidFill>
            <a:srgbClr val="7C6EFF">
              <a:alpha val="80000"/>
            </a:srgbClr>
          </a:solidFill>
          <a:ln w="12700">
            <a:solidFill>
              <a:srgbClr val="7C6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20700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77640" y="1225296"/>
            <a:ext cx="1920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6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 at 80%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74136" y="1801368"/>
            <a:ext cx="2523744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◈ Sharpen tab.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preset Strong → click SHARPEN IMAGE.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edge clarity vs original.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08776" y="1115568"/>
            <a:ext cx="2743200" cy="1691640"/>
          </a:xfrm>
          <a:prstGeom prst="rect">
            <a:avLst/>
          </a:prstGeom>
          <a:solidFill>
            <a:srgbClr val="17171F"/>
          </a:solidFill>
          <a:ln w="19050">
            <a:solidFill>
              <a:srgbClr val="00E5B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0216" y="1207008"/>
            <a:ext cx="530352" cy="530352"/>
          </a:xfrm>
          <a:prstGeom prst="ellipse">
            <a:avLst/>
          </a:prstGeom>
          <a:solidFill>
            <a:srgbClr val="00E5B0">
              <a:alpha val="80000"/>
            </a:srgbClr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120700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22008" y="1225296"/>
            <a:ext cx="1920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at 60%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18504" y="1801368"/>
            <a:ext cx="2523744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◉ Smooth tab.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preset → SMOOTH IMAGE.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 removes high-freq noise.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990088"/>
            <a:ext cx="2743200" cy="1691640"/>
          </a:xfrm>
          <a:prstGeom prst="rect">
            <a:avLst/>
          </a:prstGeom>
          <a:solidFill>
            <a:srgbClr val="17171F"/>
          </a:solidFill>
          <a:ln w="19050">
            <a:solidFill>
              <a:srgbClr val="00E5B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081528"/>
            <a:ext cx="530352" cy="530352"/>
          </a:xfrm>
          <a:prstGeom prst="ellipse">
            <a:avLst/>
          </a:prstGeom>
          <a:solidFill>
            <a:srgbClr val="00E5B0">
              <a:alpha val="80000"/>
            </a:srgbClr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8152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33272" y="3099816"/>
            <a:ext cx="1920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 Filter (new)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" y="3675888"/>
            <a:ext cx="2523744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〜 Freq tab.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cutoff slider — spectrum updates live.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Low-pass ↔ High-pass, hit APPLY.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64408" y="2990088"/>
            <a:ext cx="2743200" cy="1691640"/>
          </a:xfrm>
          <a:prstGeom prst="rect">
            <a:avLst/>
          </a:prstGeom>
          <a:solidFill>
            <a:srgbClr val="17171F"/>
          </a:solidFill>
          <a:ln w="19050">
            <a:solidFill>
              <a:srgbClr val="FF6B6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55848" y="3081528"/>
            <a:ext cx="530352" cy="530352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308152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77640" y="3099816"/>
            <a:ext cx="1920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Filter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74136" y="3675888"/>
            <a:ext cx="2523744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✦ Filters tab.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Cinematic or Noir tile — auto-applies.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carousel to compare all 10 filters.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08776" y="2990088"/>
            <a:ext cx="2743200" cy="1691640"/>
          </a:xfrm>
          <a:prstGeom prst="rect">
            <a:avLst/>
          </a:prstGeom>
          <a:solidFill>
            <a:srgbClr val="17171F"/>
          </a:solidFill>
          <a:ln w="19050">
            <a:solidFill>
              <a:srgbClr val="FF6B6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0216" y="3081528"/>
            <a:ext cx="530352" cy="530352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308152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22008" y="3099816"/>
            <a:ext cx="1920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Result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18504" y="3675888"/>
            <a:ext cx="2523744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Ctrl+S or 💾 </a:t>
            </a:r>
            <a:r>
              <a:rPr lang="de-DE" alt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button.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to the same folder as source image.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auto-named: photo_sharpened.jpg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solidFill>
            <a:srgbClr val="111118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782312"/>
            <a:ext cx="82296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Shortcuts:  Ctrl+O = Open  ·  Ctrl+S = Save  ·  Enter = Apply current tab  ·  Esc = Reset  ·  Zoom: slider per panel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2788920" cy="4160520"/>
          </a:xfrm>
          <a:prstGeom prst="rect">
            <a:avLst/>
          </a:prstGeom>
          <a:solidFill>
            <a:srgbClr val="17171F"/>
          </a:solidFill>
          <a:ln w="19050">
            <a:solidFill>
              <a:srgbClr val="7C6E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22960"/>
            <a:ext cx="2788920" cy="365760"/>
          </a:xfrm>
          <a:prstGeom prst="rect">
            <a:avLst/>
          </a:prstGeom>
          <a:solidFill>
            <a:srgbClr val="7C6EFF">
              <a:alpha val="85000"/>
            </a:srgbClr>
          </a:solidFill>
          <a:ln w="12700">
            <a:solidFill>
              <a:srgbClr val="7C6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260604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07592"/>
            <a:ext cx="91440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63040" y="1307592"/>
            <a:ext cx="150876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portrait photo (1024×1024)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11480" y="1874520"/>
            <a:ext cx="2606040" cy="502920"/>
          </a:xfrm>
          <a:prstGeom prst="rect">
            <a:avLst/>
          </a:prstGeom>
          <a:solidFill>
            <a:srgbClr val="09090F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01952"/>
            <a:ext cx="91440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63040" y="1901952"/>
            <a:ext cx="150876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— Strong preset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2468880"/>
            <a:ext cx="260604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96312"/>
            <a:ext cx="91440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63040" y="2496312"/>
            <a:ext cx="150876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Unsharp mask + Wiener (0.6/0.4 blend)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11480" y="3063240"/>
            <a:ext cx="2606040" cy="502920"/>
          </a:xfrm>
          <a:prstGeom prst="rect">
            <a:avLst/>
          </a:prstGeom>
          <a:solidFill>
            <a:srgbClr val="09090F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90672"/>
            <a:ext cx="91440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ops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63040" y="3090672"/>
            <a:ext cx="150876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~20M (O(NM log NM))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11480" y="3657600"/>
            <a:ext cx="260604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85032"/>
            <a:ext cx="91440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463040" y="3685032"/>
            <a:ext cx="150876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 edges, minimal ringing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11480" y="4251960"/>
            <a:ext cx="2606040" cy="502920"/>
          </a:xfrm>
          <a:prstGeom prst="rect">
            <a:avLst/>
          </a:prstGeom>
          <a:solidFill>
            <a:srgbClr val="09090F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279392"/>
            <a:ext cx="91440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63040" y="4279392"/>
            <a:ext cx="150876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— UI stays responsive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64408" y="822960"/>
            <a:ext cx="2788920" cy="4160520"/>
          </a:xfrm>
          <a:prstGeom prst="rect">
            <a:avLst/>
          </a:prstGeom>
          <a:solidFill>
            <a:srgbClr val="17171F"/>
          </a:solidFill>
          <a:ln w="19050">
            <a:solidFill>
              <a:srgbClr val="00E5B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64408" y="822960"/>
            <a:ext cx="2788920" cy="365760"/>
          </a:xfrm>
          <a:prstGeom prst="rect">
            <a:avLst/>
          </a:prstGeom>
          <a:solidFill>
            <a:srgbClr val="00E5B0">
              <a:alpha val="85000"/>
            </a:srgbClr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8229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55848" y="1280160"/>
            <a:ext cx="260604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47288" y="1307592"/>
            <a:ext cx="91440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407408" y="1307592"/>
            <a:ext cx="150876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scanned document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355848" y="1874520"/>
            <a:ext cx="2606040" cy="502920"/>
          </a:xfrm>
          <a:prstGeom prst="rect">
            <a:avLst/>
          </a:prstGeom>
          <a:solidFill>
            <a:srgbClr val="09090F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1901952"/>
            <a:ext cx="91440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407408" y="1901952"/>
            <a:ext cx="150876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— Medium preset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355848" y="2468880"/>
            <a:ext cx="260604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47288" y="2496312"/>
            <a:ext cx="91440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407408" y="2496312"/>
            <a:ext cx="150876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 = 0.5 − 0.55×0.38 = 0.29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355848" y="3063240"/>
            <a:ext cx="2606040" cy="502920"/>
          </a:xfrm>
          <a:prstGeom prst="rect">
            <a:avLst/>
          </a:prstGeom>
          <a:solidFill>
            <a:srgbClr val="09090F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47288" y="3090672"/>
            <a:ext cx="91440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σ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407408" y="3090672"/>
            <a:ext cx="150876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0.29 × 512 / 2 ≈ 74 px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355848" y="3657600"/>
            <a:ext cx="260604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47288" y="3685032"/>
            <a:ext cx="91440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407408" y="3685032"/>
            <a:ext cx="150876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removed, text legible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355848" y="4251960"/>
            <a:ext cx="2606040" cy="502920"/>
          </a:xfrm>
          <a:prstGeom prst="rect">
            <a:avLst/>
          </a:prstGeom>
          <a:solidFill>
            <a:srgbClr val="09090F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47288" y="4279392"/>
            <a:ext cx="91440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407408" y="4279392"/>
            <a:ext cx="150876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 s on modern CPU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208776" y="822960"/>
            <a:ext cx="2788920" cy="4160520"/>
          </a:xfrm>
          <a:prstGeom prst="rect">
            <a:avLst/>
          </a:prstGeom>
          <a:solidFill>
            <a:srgbClr val="17171F"/>
          </a:solidFill>
          <a:ln w="19050">
            <a:solidFill>
              <a:srgbClr val="FF6B6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08776" y="822960"/>
            <a:ext cx="2788920" cy="365760"/>
          </a:xfrm>
          <a:prstGeom prst="rect">
            <a:avLst/>
          </a:prstGeom>
          <a:solidFill>
            <a:srgbClr val="FF6B6B">
              <a:alpha val="8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0216" y="8229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 Filter (new)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00216" y="1280160"/>
            <a:ext cx="260604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91656" y="1307592"/>
            <a:ext cx="91440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351776" y="1307592"/>
            <a:ext cx="150876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Low-pass at 30% cutoff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300216" y="1874520"/>
            <a:ext cx="2606040" cy="502920"/>
          </a:xfrm>
          <a:prstGeom prst="rect">
            <a:avLst/>
          </a:prstGeom>
          <a:solidFill>
            <a:srgbClr val="09090F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91656" y="1901952"/>
            <a:ext cx="91440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351776" y="1901952"/>
            <a:ext cx="150876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G(u,v) per channel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300216" y="2468880"/>
            <a:ext cx="260604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91656" y="2496312"/>
            <a:ext cx="91440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Mode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351776" y="2496312"/>
            <a:ext cx="150876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High-pass: 1 − G(u,v)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300216" y="3063240"/>
            <a:ext cx="2606040" cy="502920"/>
          </a:xfrm>
          <a:prstGeom prst="rect">
            <a:avLst/>
          </a:prstGeom>
          <a:solidFill>
            <a:srgbClr val="09090F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91656" y="3090672"/>
            <a:ext cx="91440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351776" y="3090672"/>
            <a:ext cx="150876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bar chart with cutoff line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300216" y="3657600"/>
            <a:ext cx="260604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91656" y="3685032"/>
            <a:ext cx="91440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351776" y="3685032"/>
            <a:ext cx="150876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series diagram updates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300216" y="4251960"/>
            <a:ext cx="2606040" cy="502920"/>
          </a:xfrm>
          <a:prstGeom prst="rect">
            <a:avLst/>
          </a:prstGeom>
          <a:solidFill>
            <a:srgbClr val="09090F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91656" y="4279392"/>
            <a:ext cx="91440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351776" y="4279392"/>
            <a:ext cx="150876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APPLY FREQ FILTER btn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solidFill>
            <a:srgbClr val="111118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4782312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Direct convolution O(N²M²) vs FFT O(NM log NM) — for a 1024×1024 image: ~10¹² vs ~2×10⁸ operations (5000× faster)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274320"/>
            <a:ext cx="2743200" cy="2743200"/>
          </a:xfrm>
          <a:prstGeom prst="ellipse">
            <a:avLst/>
          </a:prstGeom>
          <a:solidFill>
            <a:srgbClr val="7C6EFF">
              <a:alpha val="40000"/>
            </a:srgbClr>
          </a:solidFill>
          <a:ln w="12700">
            <a:solidFill>
              <a:srgbClr val="7C6EFF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1645920"/>
            <a:ext cx="1828800" cy="1828800"/>
          </a:xfrm>
          <a:prstGeom prst="ellipse">
            <a:avLst/>
          </a:prstGeom>
          <a:solidFill>
            <a:srgbClr val="00E5B0">
              <a:alpha val="30000"/>
            </a:srgbClr>
          </a:solidFill>
          <a:ln w="12700">
            <a:solidFill>
              <a:srgbClr val="00E5B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FF6B6B">
              <a:alpha val="35000"/>
            </a:srgbClr>
          </a:solidFill>
          <a:ln w="12700">
            <a:solidFill>
              <a:srgbClr val="FF6B6B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6858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1115568"/>
            <a:ext cx="2560320" cy="36576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98448"/>
            <a:ext cx="384048" cy="384048"/>
          </a:xfrm>
          <a:prstGeom prst="ellipse">
            <a:avLst/>
          </a:prstGeom>
          <a:solidFill>
            <a:srgbClr val="7C6EFF">
              <a:alpha val="75000"/>
            </a:srgbClr>
          </a:solidFill>
          <a:ln w="12700">
            <a:solidFill>
              <a:srgbClr val="7C6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984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316736"/>
            <a:ext cx="7315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6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FFT Engine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1536192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Cooley-Tukey algorithm processes all three RGB channels separately at O(NM log NM) — orders of magnitude faster than direct convolution.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167128"/>
            <a:ext cx="384048" cy="384048"/>
          </a:xfrm>
          <a:prstGeom prst="ellipse">
            <a:avLst/>
          </a:prstGeom>
          <a:solidFill>
            <a:srgbClr val="00E5B0">
              <a:alpha val="75000"/>
            </a:srgbClr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671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185416"/>
            <a:ext cx="7315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 Domain Filter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2404872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interactive tab wit</a:t>
            </a:r>
            <a:r>
              <a:rPr lang="de-DE" alt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live FFT spectrum, cutoff slider, low/high-pass toggle, and Fourier expansion diagram — educational and practical.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3035808"/>
            <a:ext cx="384048" cy="384048"/>
          </a:xfrm>
          <a:prstGeom prst="ellipse">
            <a:avLst/>
          </a:prstGeom>
          <a:solidFill>
            <a:srgbClr val="FF6B6B">
              <a:alpha val="7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358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✦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3054096"/>
            <a:ext cx="7315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Colour Filters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3273552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carousel with real-time thumbnails using background threads — UI never freezes regardless of image size.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3904488"/>
            <a:ext cx="384048" cy="384048"/>
          </a:xfrm>
          <a:prstGeom prst="ellipse">
            <a:avLst/>
          </a:prstGeom>
          <a:solidFill>
            <a:srgbClr val="7C6EFF">
              <a:alpha val="75000"/>
            </a:srgbClr>
          </a:solidFill>
          <a:ln w="12700">
            <a:solidFill>
              <a:srgbClr val="7C6E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044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3922776"/>
            <a:ext cx="7315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6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Sharpening + Smooth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" y="4142232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Unsharp Mask and Wiener deconvolution blend delivers artefact-free results with a single percentage slider.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8046720" cy="384048"/>
          </a:xfrm>
          <a:prstGeom prst="rect">
            <a:avLst/>
          </a:prstGeom>
          <a:solidFill>
            <a:srgbClr val="7C6EFF">
              <a:alpha val="80000"/>
            </a:srgbClr>
          </a:solidFill>
          <a:ln w="12700">
            <a:solidFill>
              <a:srgbClr val="7C6E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61772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 |   · Group 2  |  </a:t>
            </a:r>
            <a:r>
              <a:rPr lang="de-DE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SERIES </a:t>
            </a:r>
            <a:endParaRPr lang="de-DE" altLang="en-US" sz="12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7642</Words>
  <Application>WPS Presentation</Application>
  <PresentationFormat>On-screen Show (16:9)</PresentationFormat>
  <Paragraphs>460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0" baseType="lpstr">
      <vt:lpstr>Arial</vt:lpstr>
      <vt:lpstr>SimSun</vt:lpstr>
      <vt:lpstr>Wingdings</vt:lpstr>
      <vt:lpstr>DejaVu Sans</vt:lpstr>
      <vt:lpstr>Calibri</vt:lpstr>
      <vt:lpstr>Georgia</vt:lpstr>
      <vt:lpstr>Georgia</vt:lpstr>
      <vt:lpstr>Georgia</vt:lpstr>
      <vt:lpstr>Calibri</vt:lpstr>
      <vt:lpstr>Calibri</vt:lpstr>
      <vt:lpstr>C059</vt:lpstr>
      <vt:lpstr>Courier New</vt:lpstr>
      <vt:lpstr>Courier New</vt:lpstr>
      <vt:lpstr>Courier New</vt:lpstr>
      <vt:lpstr>Microsoft YaHei</vt:lpstr>
      <vt:lpstr>Droid Sans Fallback</vt:lpstr>
      <vt:lpstr>Arial Unicode MS</vt:lpstr>
      <vt:lpstr>OpenSymbol</vt:lpstr>
      <vt:lpstr>Bitstream Charter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Fourier Image Studio – Group 2</dc:title>
  <dc:creator>PptxGenJS</dc:creator>
  <dc:subject>PptxGenJS Presentation</dc:subject>
  <cp:lastModifiedBy>charles</cp:lastModifiedBy>
  <cp:revision>6</cp:revision>
  <dcterms:created xsi:type="dcterms:W3CDTF">2026-05-06T06:13:04Z</dcterms:created>
  <dcterms:modified xsi:type="dcterms:W3CDTF">2026-05-06T06:13:04Z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